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6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9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0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1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6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6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9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44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904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63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1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24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33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2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32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Problem Statement – KPI’s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7214419" cy="43785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sz="2900" dirty="0">
                <a:solidFill>
                  <a:schemeClr val="bg1"/>
                </a:solidFill>
              </a:rPr>
              <a:t>We need to analyze key indicators for our pizza sales data to gain insights into our business performance.</a:t>
            </a:r>
          </a:p>
          <a:p>
            <a:endParaRPr sz="2400" dirty="0"/>
          </a:p>
          <a:p>
            <a:pPr marL="0" indent="0">
              <a:buNone/>
            </a:pPr>
            <a:r>
              <a:rPr sz="3200" b="1" dirty="0">
                <a:solidFill>
                  <a:srgbClr val="FFFF00"/>
                </a:solidFill>
              </a:rPr>
              <a:t>1. Total Revenue: </a:t>
            </a:r>
            <a:r>
              <a:rPr lang="en-US" sz="3200" dirty="0"/>
              <a:t>The sum of the total price of all pizza orders.</a:t>
            </a:r>
            <a:endParaRPr sz="3200" dirty="0"/>
          </a:p>
          <a:p>
            <a:pPr marL="0" indent="0">
              <a:buNone/>
            </a:pPr>
            <a:r>
              <a:rPr sz="3200" b="1" dirty="0">
                <a:solidFill>
                  <a:srgbClr val="FFFF00"/>
                </a:solidFill>
              </a:rPr>
              <a:t>2. Average Order Value: </a:t>
            </a:r>
            <a:r>
              <a:rPr lang="en-US" sz="3200" dirty="0"/>
              <a:t>The average amount spent per order, calculated by dividing the total revenue by the total number of orders.</a:t>
            </a:r>
            <a:endParaRPr sz="3200" dirty="0"/>
          </a:p>
          <a:p>
            <a:pPr marL="0" indent="0">
              <a:buNone/>
            </a:pPr>
            <a:r>
              <a:rPr sz="3200" b="1" dirty="0">
                <a:solidFill>
                  <a:srgbClr val="FFFF00"/>
                </a:solidFill>
              </a:rPr>
              <a:t>3. Total Pizzas Sold: </a:t>
            </a:r>
            <a:r>
              <a:rPr lang="en-US" sz="3200" dirty="0"/>
              <a:t>The sum of the quantities of all pizzas sold</a:t>
            </a:r>
          </a:p>
          <a:p>
            <a:pPr marL="0" indent="0">
              <a:buNone/>
            </a:pPr>
            <a:r>
              <a:rPr sz="3200" b="1" dirty="0">
                <a:solidFill>
                  <a:srgbClr val="FFFF00"/>
                </a:solidFill>
              </a:rPr>
              <a:t>4. Total Orders: </a:t>
            </a:r>
            <a:r>
              <a:rPr lang="en-US" sz="3200" dirty="0"/>
              <a:t>The total number of orders placed.</a:t>
            </a:r>
          </a:p>
          <a:p>
            <a:pPr marL="0" indent="0">
              <a:buNone/>
            </a:pPr>
            <a:r>
              <a:rPr sz="3200" b="1" dirty="0">
                <a:solidFill>
                  <a:srgbClr val="FFFF00"/>
                </a:solidFill>
              </a:rPr>
              <a:t>5. Average Pizzas Per Order: </a:t>
            </a:r>
            <a:r>
              <a:rPr lang="en-US" sz="3200" dirty="0"/>
              <a:t>The average number of pizzas sold per order, calculated by dividing the total number of pizzas sold by the total number of orders.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76D1D-2378-0A07-027C-D9A82D5F0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82" y="730550"/>
            <a:ext cx="1148531" cy="1103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Problem Statement – Charts Requirement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38564"/>
            <a:ext cx="6887389" cy="48194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>
                <a:solidFill>
                  <a:srgbClr val="FFFF00"/>
                </a:solidFill>
              </a:rPr>
              <a:t>1. Daily Trend for Total Orders:</a:t>
            </a:r>
          </a:p>
          <a:p>
            <a:pPr marL="0" indent="0">
              <a:buNone/>
            </a:pPr>
            <a:r>
              <a:rPr lang="en-US" sz="2000" dirty="0"/>
              <a:t>Create a bar chart that displays the daily trend of total orders over a specific time period. This chart will help us identify any patterns or fluctuations in order volumes on a daily basis.</a:t>
            </a:r>
            <a:endParaRPr sz="2000" dirty="0"/>
          </a:p>
          <a:p>
            <a:pPr marL="0" indent="0">
              <a:buNone/>
            </a:pPr>
            <a:r>
              <a:rPr sz="2000" b="1" dirty="0">
                <a:solidFill>
                  <a:srgbClr val="FFFF00"/>
                </a:solidFill>
              </a:rPr>
              <a:t>2. Monthly Trend for Total Orders:</a:t>
            </a:r>
            <a:endParaRPr lang="en-US" sz="20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2000" dirty="0"/>
              <a:t>Create a line chart that illustrates the hourly trend of total orders throughout the day. This chart will allow us to identify peak hours or periods of high order activity.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00"/>
                </a:solidFill>
              </a:rPr>
              <a:t>3. Percentage of Sales by Pizza Category:</a:t>
            </a:r>
          </a:p>
          <a:p>
            <a:pPr marL="0" indent="0">
              <a:buNone/>
            </a:pPr>
            <a:r>
              <a:rPr lang="en-US" sz="2000" dirty="0"/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5D953-772D-55A4-74BE-F21DA76C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34430">
            <a:off x="7877482" y="730550"/>
            <a:ext cx="1148531" cy="1103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001" y="1038363"/>
            <a:ext cx="6896534" cy="846972"/>
          </a:xfrm>
        </p:spPr>
        <p:txBody>
          <a:bodyPr>
            <a:normAutofit fontScale="90000"/>
          </a:bodyPr>
          <a:lstStyle/>
          <a:p>
            <a:r>
              <a:rPr dirty="0"/>
              <a:t>Problem Statement – Charts Requirement (Part 2)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34799" cy="47219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b="1" dirty="0">
                <a:solidFill>
                  <a:srgbClr val="FFFF00"/>
                </a:solidFill>
              </a:rPr>
              <a:t>4. Percentage of Sales by Pizza Size:</a:t>
            </a:r>
          </a:p>
          <a:p>
            <a:pPr marL="0" indent="0">
              <a:buNone/>
            </a:pPr>
            <a:r>
              <a:rPr lang="en-US" sz="1600" dirty="0"/>
              <a:t>Generate a pie chart that represents the percentage of sales attributed to different pizza sizes. This chart will help us understand customer preferences for pizza sizes and their impact on sales.</a:t>
            </a:r>
            <a:endParaRPr sz="1600" dirty="0"/>
          </a:p>
          <a:p>
            <a:pPr marL="0" indent="0">
              <a:buNone/>
            </a:pPr>
            <a:r>
              <a:rPr sz="1600" b="1" dirty="0">
                <a:solidFill>
                  <a:srgbClr val="FFFF00"/>
                </a:solidFill>
              </a:rPr>
              <a:t>5. Total Pizzas Sold by Pizza Category:</a:t>
            </a:r>
          </a:p>
          <a:p>
            <a:pPr marL="0" indent="0">
              <a:buNone/>
            </a:pPr>
            <a:r>
              <a:rPr lang="en-US" sz="1600" dirty="0"/>
              <a:t>Create a funnel chart that presents the total number of pizzas sold for each pizza category. This chart will allow us to compare the sales performance of different pizza categories.</a:t>
            </a:r>
            <a:endParaRPr sz="1600" dirty="0"/>
          </a:p>
          <a:p>
            <a:pPr marL="0" indent="0">
              <a:buNone/>
            </a:pPr>
            <a:r>
              <a:rPr sz="1600" b="1" dirty="0">
                <a:solidFill>
                  <a:srgbClr val="FFFF00"/>
                </a:solidFill>
              </a:rPr>
              <a:t>6. Top 5 Best Sellers:</a:t>
            </a:r>
          </a:p>
          <a:p>
            <a:pPr marL="0" indent="0">
              <a:buNone/>
            </a:pPr>
            <a:r>
              <a:rPr lang="en-US" sz="1600" dirty="0"/>
              <a:t>Create a bar chart highlighting the top 5 best-selling pizzas based on the Revenue, Total Quantity, Total Orders. This chart will help us identify the most popular pizza options.</a:t>
            </a:r>
          </a:p>
          <a:p>
            <a:pPr marL="0" indent="0">
              <a:buNone/>
            </a:pPr>
            <a:r>
              <a:rPr sz="1600" b="1" dirty="0">
                <a:solidFill>
                  <a:srgbClr val="FFFF00"/>
                </a:solidFill>
              </a:rPr>
              <a:t>7. Bottom 5 Worst Sellers:</a:t>
            </a:r>
          </a:p>
          <a:p>
            <a:pPr marL="0" indent="0">
              <a:buNone/>
            </a:pPr>
            <a:r>
              <a:rPr lang="en-US" sz="1600" dirty="0"/>
              <a:t>Create a bar chart showcasing the bottom 5 worst-selling pizzas based on the Revenue, Total Quantity, Total Orders. This chart will enable us to identify underperforming or less popular pizza options.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592FC-B6FD-6BB6-DBDE-90C62D9C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82" y="730550"/>
            <a:ext cx="1148531" cy="1103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14DFBC-B6D4-4B7A-061C-548ED847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73763">
            <a:off x="7871645" y="699477"/>
            <a:ext cx="1134354" cy="1089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BE881-8706-F82C-7CBA-80BCB4562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39" y="2094271"/>
            <a:ext cx="8600262" cy="4600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061FB5-DB04-AC10-AFCF-CCFB102233BC}"/>
              </a:ext>
            </a:extLst>
          </p:cNvPr>
          <p:cNvSpPr txBox="1"/>
          <p:nvPr/>
        </p:nvSpPr>
        <p:spPr>
          <a:xfrm>
            <a:off x="403123" y="1022555"/>
            <a:ext cx="2005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47154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1225FF-CFBD-99AB-FB9C-DC5C7FA1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710404">
            <a:off x="7877482" y="730550"/>
            <a:ext cx="1148531" cy="1103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645DB5-4FA4-7CDF-6B97-C37B6642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8" y="2063912"/>
            <a:ext cx="8839201" cy="46999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CC02CF-1B3C-F9B7-B468-0AB6CCD257F2}"/>
              </a:ext>
            </a:extLst>
          </p:cNvPr>
          <p:cNvSpPr txBox="1"/>
          <p:nvPr/>
        </p:nvSpPr>
        <p:spPr>
          <a:xfrm>
            <a:off x="275303" y="989970"/>
            <a:ext cx="3923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260556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BD04-5054-C588-7311-82E10B8D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4BA0D2-2A26-0ECB-7B11-8CCB4D2AC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73763">
            <a:off x="7871645" y="699477"/>
            <a:ext cx="1134354" cy="10899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FA299D-468D-7B66-0026-D9C62498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6" y="2035277"/>
            <a:ext cx="8863454" cy="4640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DD1B2F-7C31-8CE6-FCC1-862C97A55E3C}"/>
              </a:ext>
            </a:extLst>
          </p:cNvPr>
          <p:cNvSpPr txBox="1"/>
          <p:nvPr/>
        </p:nvSpPr>
        <p:spPr>
          <a:xfrm>
            <a:off x="117986" y="641677"/>
            <a:ext cx="352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Power 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E1E88-FD1E-924F-3A75-BEF756691B53}"/>
              </a:ext>
            </a:extLst>
          </p:cNvPr>
          <p:cNvSpPr txBox="1"/>
          <p:nvPr/>
        </p:nvSpPr>
        <p:spPr>
          <a:xfrm>
            <a:off x="55343" y="1446198"/>
            <a:ext cx="280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1. Home Dashboard</a:t>
            </a:r>
          </a:p>
        </p:txBody>
      </p:sp>
    </p:spTree>
    <p:extLst>
      <p:ext uri="{BB962C8B-B14F-4D97-AF65-F5344CB8AC3E}">
        <p14:creationId xmlns:p14="http://schemas.microsoft.com/office/powerpoint/2010/main" val="115649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E50EF-18E6-E2A5-1F5C-68A25621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BB3B0F-F2D4-BE50-1B50-853120B3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73763">
            <a:off x="7871645" y="699477"/>
            <a:ext cx="1134354" cy="10899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97620-DA79-D248-7C32-30090BA6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" y="2039517"/>
            <a:ext cx="8839200" cy="4710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31F746-0F7A-E028-9D8D-286D5B5F0E04}"/>
              </a:ext>
            </a:extLst>
          </p:cNvPr>
          <p:cNvSpPr txBox="1"/>
          <p:nvPr/>
        </p:nvSpPr>
        <p:spPr>
          <a:xfrm>
            <a:off x="117987" y="1487126"/>
            <a:ext cx="346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2.Best &amp; Worst Seller</a:t>
            </a:r>
          </a:p>
        </p:txBody>
      </p:sp>
    </p:spTree>
    <p:extLst>
      <p:ext uri="{BB962C8B-B14F-4D97-AF65-F5344CB8AC3E}">
        <p14:creationId xmlns:p14="http://schemas.microsoft.com/office/powerpoint/2010/main" val="3962159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180CF7-3A69-C06A-EFAA-8B9527A8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73763">
            <a:off x="7871645" y="699477"/>
            <a:ext cx="1134354" cy="1089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B96C5E-BDA2-D7EB-8BE0-11F689AA5DEF}"/>
              </a:ext>
            </a:extLst>
          </p:cNvPr>
          <p:cNvSpPr txBox="1"/>
          <p:nvPr/>
        </p:nvSpPr>
        <p:spPr>
          <a:xfrm>
            <a:off x="265471" y="816077"/>
            <a:ext cx="479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TOP 10 Ingredients in Pizzas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AC896-A218-AF29-6CF9-55EBD80E9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904" y="2015613"/>
            <a:ext cx="3696928" cy="4748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6721C-F2D1-B5FE-4D5E-4C6AEDCE929D}"/>
              </a:ext>
            </a:extLst>
          </p:cNvPr>
          <p:cNvSpPr txBox="1"/>
          <p:nvPr/>
        </p:nvSpPr>
        <p:spPr>
          <a:xfrm>
            <a:off x="127819" y="93406"/>
            <a:ext cx="3106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INGREDIENTS</a:t>
            </a:r>
          </a:p>
        </p:txBody>
      </p:sp>
    </p:spTree>
    <p:extLst>
      <p:ext uri="{BB962C8B-B14F-4D97-AF65-F5344CB8AC3E}">
        <p14:creationId xmlns:p14="http://schemas.microsoft.com/office/powerpoint/2010/main" val="253978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16CA-E605-93CC-62B1-1D505A89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D35736-4707-34F2-80FB-25DB98F67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373763">
            <a:off x="7871645" y="699477"/>
            <a:ext cx="1134354" cy="10899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33335-2207-97C6-DB2E-038308AF9636}"/>
              </a:ext>
            </a:extLst>
          </p:cNvPr>
          <p:cNvSpPr txBox="1"/>
          <p:nvPr/>
        </p:nvSpPr>
        <p:spPr>
          <a:xfrm>
            <a:off x="265471" y="816077"/>
            <a:ext cx="5260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Bottom 10 Ingredients in Pizzas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5CF64-813E-5D13-D162-197F3970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006" y="2054942"/>
            <a:ext cx="2959509" cy="469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70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259</TotalTime>
  <Words>462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Problem Statement – KPI’s Requirement</vt:lpstr>
      <vt:lpstr>Problem Statement – Charts Requirement (Part 1)</vt:lpstr>
      <vt:lpstr>Problem Statement – Charts Requirement (Part 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Lalit Borase</dc:creator>
  <cp:keywords/>
  <dc:description>generated using python-pptx</dc:description>
  <cp:lastModifiedBy>Lalit Borase</cp:lastModifiedBy>
  <cp:revision>7</cp:revision>
  <dcterms:created xsi:type="dcterms:W3CDTF">2013-01-27T09:14:16Z</dcterms:created>
  <dcterms:modified xsi:type="dcterms:W3CDTF">2025-12-30T20:26:07Z</dcterms:modified>
  <cp:category/>
</cp:coreProperties>
</file>